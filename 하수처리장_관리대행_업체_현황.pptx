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2022 년</c:v>
                </c:pt>
              </c:strCache>
            </c:strRef>
          </c:tx>
          <c:spPr>
            <a:solidFill>
              <a:srgbClr val="ADD8E6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>
                    <a:solidFill>
                      <a:srgbClr val="333333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 환경그룹</c:v>
                </c:pt>
                <c:pt idx="1">
                  <c:v>B 워터테크</c:v>
                </c:pt>
                <c:pt idx="2">
                  <c:v>C 그린시스템</c:v>
                </c:pt>
                <c:pt idx="3">
                  <c:v>D 에코서비스</c:v>
                </c:pt>
                <c:pt idx="4">
                  <c:v>E 클린워터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3200</c:v>
                </c:pt>
                <c:pt idx="1">
                  <c:v>2850</c:v>
                </c:pt>
                <c:pt idx="2">
                  <c:v>2100</c:v>
                </c:pt>
                <c:pt idx="3">
                  <c:v>1950</c:v>
                </c:pt>
                <c:pt idx="4">
                  <c:v>1600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2023 년</c:v>
                </c:pt>
              </c:strCache>
            </c:strRef>
          </c:tx>
          <c:spPr>
            <a:solidFill>
              <a:srgbClr val="4682B4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>
                    <a:solidFill>
                      <a:srgbClr val="333333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 환경그룹</c:v>
                </c:pt>
                <c:pt idx="1">
                  <c:v>B 워터테크</c:v>
                </c:pt>
                <c:pt idx="2">
                  <c:v>C 그린시스템</c:v>
                </c:pt>
                <c:pt idx="3">
                  <c:v>D 에코서비스</c:v>
                </c:pt>
                <c:pt idx="4">
                  <c:v>E 클린워터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3450</c:v>
                </c:pt>
                <c:pt idx="1">
                  <c:v>3050</c:v>
                </c:pt>
                <c:pt idx="2">
                  <c:v>2280</c:v>
                </c:pt>
                <c:pt idx="3">
                  <c:v>2100</c:v>
                </c:pt>
                <c:pt idx="4">
                  <c:v>1750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2024 년</c:v>
                </c:pt>
              </c:strCache>
            </c:strRef>
          </c:tx>
          <c:spPr>
            <a:solidFill>
              <a:srgbClr val="003366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>
                    <a:solidFill>
                      <a:srgbClr val="333333"/>
                    </a:solidFill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A 환경그룹</c:v>
                </c:pt>
                <c:pt idx="1">
                  <c:v>B 워터테크</c:v>
                </c:pt>
                <c:pt idx="2">
                  <c:v>C 그린시스템</c:v>
                </c:pt>
                <c:pt idx="3">
                  <c:v>D 에코서비스</c:v>
                </c:pt>
                <c:pt idx="4">
                  <c:v>E 클린워터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3680</c:v>
                </c:pt>
                <c:pt idx="1">
                  <c:v>3250</c:v>
                </c:pt>
                <c:pt idx="2">
                  <c:v>2450</c:v>
                </c:pt>
                <c:pt idx="3">
                  <c:v>2250</c:v>
                </c:pt>
                <c:pt idx="4">
                  <c:v>1890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비중</c:v>
                </c:pt>
              </c:strCache>
            </c:strRef>
          </c:tx>
          <c:dPt>
            <c:idx val="0"/>
            <c:spPr>
              <a:solidFill>
                <a:srgbClr val="003366"/>
              </a:solidFill>
            </c:spPr>
          </c:dPt>
          <c:dPt>
            <c:idx val="1"/>
            <c:spPr>
              <a:solidFill>
                <a:srgbClr val="4682B4"/>
              </a:solidFill>
            </c:spPr>
          </c:dPt>
          <c:dPt>
            <c:idx val="2"/>
            <c:spPr>
              <a:solidFill>
                <a:srgbClr val="ADD8E6"/>
              </a:solidFill>
            </c:spPr>
          </c:dPt>
          <c:cat>
            <c:strRef>
              <c:f>Sheet1!$A$2:$A$4</c:f>
              <c:strCache>
                <c:ptCount val="3"/>
                <c:pt idx="0">
                  <c:v>대규모
(10,000 톤/일 이상)</c:v>
                </c:pt>
                <c:pt idx="1">
                  <c:v>중규모
(1,000-10,000 톤/일)</c:v>
                </c:pt>
                <c:pt idx="2">
                  <c:v>소규모
(1,000 톤/일 미만)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</c:v>
                </c:pt>
                <c:pt idx="1">
                  <c:v>45</c:v>
                </c:pt>
                <c:pt idx="2">
                  <c:v>40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>
                  <a:solidFill>
                    <a:srgbClr val="333333"/>
                  </a:solidFill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입찰 금액 (억원)</c:v>
                </c:pt>
              </c:strCache>
            </c:strRef>
          </c:tx>
          <c:spPr>
            <a:solidFill>
              <a:srgbClr val="D4AF37"/>
            </a:solidFill>
            <a:ln w="38100"/>
          </c:spPr>
          <c:marker>
            <c:symbol val="circle"/>
            <c:size val="10"/>
            <c:spPr>
              <a:solidFill>
                <a:srgbClr val="003366"/>
              </a:solidFill>
            </c:spPr>
          </c:marker>
          <c:dLbls>
            <c:numFmt formatCode="0&quot; 억&quot;" sourceLinked="0"/>
            <c:txPr>
              <a:bodyPr/>
              <a:lstStyle/>
              <a:p>
                <a:pPr>
                  <a:defRPr sz="1400" b="1">
                    <a:solidFill>
                      <a:srgbClr val="003366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485</c:v>
                </c:pt>
                <c:pt idx="2">
                  <c:v>520</c:v>
                </c:pt>
                <c:pt idx="3">
                  <c:v>580</c:v>
                </c:pt>
                <c:pt idx="4">
                  <c:v>625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260000"/>
            <a:ext cx="8640000" cy="10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algun Gothic"/>
              </a:rPr>
              <a:t>전국 하수처리장 관리대행</a:t>
            </a:r>
            <a:br/>
            <a:r>
              <a:t>업체 현황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980000"/>
            <a:ext cx="864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CCCCCC"/>
                </a:solidFill>
                <a:latin typeface="Malgun Gothic"/>
              </a:rPr>
              <a:t>2024 년 시장 동향 및 전망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340000"/>
            <a:ext cx="86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  <a:latin typeface="Malgun Gothic"/>
              </a:rPr>
              <a:t>2026 년 07 월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880000"/>
            <a:ext cx="8640000" cy="36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360000"/>
            <a:ext cx="36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Malgun Gothic"/>
              </a:rPr>
              <a:t>목 차</a:t>
            </a:r>
          </a:p>
        </p:txBody>
      </p:sp>
      <p:sp>
        <p:nvSpPr>
          <p:cNvPr id="3" name="Oval 2"/>
          <p:cNvSpPr/>
          <p:nvPr/>
        </p:nvSpPr>
        <p:spPr>
          <a:xfrm>
            <a:off x="720000" y="1080000"/>
            <a:ext cx="288000" cy="2880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000" y="1080000"/>
            <a:ext cx="28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333333"/>
                </a:solidFill>
                <a:latin typeface="Malgun Gothic"/>
              </a:rPr>
              <a:t>시장 개요</a:t>
            </a:r>
          </a:p>
        </p:txBody>
      </p:sp>
      <p:sp>
        <p:nvSpPr>
          <p:cNvPr id="5" name="Oval 4"/>
          <p:cNvSpPr/>
          <p:nvPr/>
        </p:nvSpPr>
        <p:spPr>
          <a:xfrm>
            <a:off x="720000" y="1512000"/>
            <a:ext cx="288000" cy="2880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1512000"/>
            <a:ext cx="28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333333"/>
                </a:solidFill>
                <a:latin typeface="Malgun Gothic"/>
              </a:rPr>
              <a:t>주요 업체 현황</a:t>
            </a:r>
          </a:p>
        </p:txBody>
      </p:sp>
      <p:sp>
        <p:nvSpPr>
          <p:cNvPr id="7" name="Oval 6"/>
          <p:cNvSpPr/>
          <p:nvPr/>
        </p:nvSpPr>
        <p:spPr>
          <a:xfrm>
            <a:off x="720000" y="1944000"/>
            <a:ext cx="288000" cy="2880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" y="1944000"/>
            <a:ext cx="28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333333"/>
                </a:solidFill>
                <a:latin typeface="Malgun Gothic"/>
              </a:rPr>
              <a:t>매출액 비교</a:t>
            </a:r>
          </a:p>
        </p:txBody>
      </p:sp>
      <p:sp>
        <p:nvSpPr>
          <p:cNvPr id="9" name="Oval 8"/>
          <p:cNvSpPr/>
          <p:nvPr/>
        </p:nvSpPr>
        <p:spPr>
          <a:xfrm>
            <a:off x="720000" y="2376000"/>
            <a:ext cx="288000" cy="2880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000" y="2376000"/>
            <a:ext cx="28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333333"/>
                </a:solidFill>
                <a:latin typeface="Malgun Gothic"/>
              </a:rPr>
              <a:t>지역별 분포</a:t>
            </a:r>
          </a:p>
        </p:txBody>
      </p:sp>
      <p:sp>
        <p:nvSpPr>
          <p:cNvPr id="11" name="Oval 10"/>
          <p:cNvSpPr/>
          <p:nvPr/>
        </p:nvSpPr>
        <p:spPr>
          <a:xfrm>
            <a:off x="720000" y="2808000"/>
            <a:ext cx="288000" cy="2880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000" y="2808000"/>
            <a:ext cx="28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333333"/>
                </a:solidFill>
                <a:latin typeface="Malgun Gothic"/>
              </a:rPr>
              <a:t>처리장 규모별 현황</a:t>
            </a:r>
          </a:p>
        </p:txBody>
      </p:sp>
      <p:sp>
        <p:nvSpPr>
          <p:cNvPr id="13" name="Oval 12"/>
          <p:cNvSpPr/>
          <p:nvPr/>
        </p:nvSpPr>
        <p:spPr>
          <a:xfrm>
            <a:off x="3600000" y="1080000"/>
            <a:ext cx="288000" cy="2880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32000" y="1080000"/>
            <a:ext cx="2880000" cy="288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333333"/>
                </a:solidFill>
                <a:latin typeface="Malgun Gothic"/>
              </a:rPr>
              <a:t>입찰 동향</a:t>
            </a:r>
          </a:p>
        </p:txBody>
      </p:sp>
      <p:sp>
        <p:nvSpPr>
          <p:cNvPr id="15" name="Oval 14"/>
          <p:cNvSpPr/>
          <p:nvPr/>
        </p:nvSpPr>
        <p:spPr>
          <a:xfrm>
            <a:off x="3600000" y="1512000"/>
            <a:ext cx="288000" cy="2880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32000" y="1512000"/>
            <a:ext cx="2880000" cy="288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333333"/>
                </a:solidFill>
                <a:latin typeface="Malgun Gothic"/>
              </a:rPr>
              <a:t>기술 개발 현황</a:t>
            </a:r>
          </a:p>
        </p:txBody>
      </p:sp>
      <p:sp>
        <p:nvSpPr>
          <p:cNvPr id="17" name="Oval 16"/>
          <p:cNvSpPr/>
          <p:nvPr/>
        </p:nvSpPr>
        <p:spPr>
          <a:xfrm>
            <a:off x="3600000" y="1944000"/>
            <a:ext cx="288000" cy="2880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32000" y="1944000"/>
            <a:ext cx="2880000" cy="288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333333"/>
                </a:solidFill>
                <a:latin typeface="Malgun Gothic"/>
              </a:rPr>
              <a:t>시장 전망</a:t>
            </a:r>
          </a:p>
        </p:txBody>
      </p:sp>
      <p:sp>
        <p:nvSpPr>
          <p:cNvPr id="19" name="Oval 18"/>
          <p:cNvSpPr/>
          <p:nvPr/>
        </p:nvSpPr>
        <p:spPr>
          <a:xfrm>
            <a:off x="3600000" y="2376000"/>
            <a:ext cx="288000" cy="288000"/>
          </a:xfrm>
          <a:prstGeom prst="ellipse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32000" y="2376000"/>
            <a:ext cx="2880000" cy="288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333333"/>
                </a:solidFill>
                <a:latin typeface="Malgun Gothic"/>
              </a:rPr>
              <a:t>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360000"/>
            <a:ext cx="36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Malgun Gothic"/>
              </a:rPr>
              <a:t>시장 개요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0000" y="900000"/>
            <a:ext cx="3060000" cy="18000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080000"/>
            <a:ext cx="27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3366"/>
                </a:solidFill>
                <a:latin typeface="Malgun Gothic"/>
              </a:rPr>
              <a:t>2,458 개소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692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Malgun Gothic"/>
              </a:rPr>
              <a:t>전국 하수처리장 총량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2052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46464"/>
                </a:solidFill>
                <a:latin typeface="Malgun Gothic"/>
              </a:rPr>
              <a:t>2024 년 기준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0000" y="900000"/>
            <a:ext cx="3060000" cy="18000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0000" y="1080000"/>
            <a:ext cx="27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3366"/>
                </a:solidFill>
                <a:latin typeface="Malgun Gothic"/>
              </a:rPr>
              <a:t>67.3%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0" y="1692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Malgun Gothic"/>
              </a:rPr>
              <a:t>민간위탁 비율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0" y="2052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46464"/>
                </a:solidFill>
                <a:latin typeface="Malgun Gothic"/>
              </a:rPr>
              <a:t>지속적 증가 추세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20000" y="900000"/>
            <a:ext cx="3060000" cy="180000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0" y="1080000"/>
            <a:ext cx="270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003366"/>
                </a:solidFill>
                <a:latin typeface="Malgun Gothic"/>
              </a:rPr>
              <a:t>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0" y="1692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Malgun Gothic"/>
              </a:rPr>
              <a:t>연평균 성장률 (CAGR)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0" y="2052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646464"/>
                </a:solidFill>
                <a:latin typeface="Malgun Gothic"/>
              </a:rPr>
              <a:t>2020-2024 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3060000"/>
            <a:ext cx="93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003366"/>
                </a:solidFill>
                <a:latin typeface="Malgun Gothic"/>
              </a:rPr>
              <a:t>시장 규모: 약 2 조 8,500 억원 (2024 년 예상)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360000"/>
            <a:ext cx="36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Malgun Gothic"/>
              </a:rPr>
              <a:t>주요 업체 현황 (상위 8 개사)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0000" y="900000"/>
          <a:ext cx="900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1800000"/>
                <a:gridCol w="2520000"/>
                <a:gridCol w="2520000"/>
              </a:tblGrid>
              <a:tr h="24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업체명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운영 처리장 수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처리용량 (톤/일)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시장점유율 (%)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24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A 환경그룹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156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2,850,000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18.5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4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B 워터테크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2,100,000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14.2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C 그린시스템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98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1,780,000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11.8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4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D 에코서비스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1,650,000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10.5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E 클린워터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72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1,320,000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8.9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4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F 물관리공사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1,180,000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7.7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4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G 환경산업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58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980,000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6.5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24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H 워터솔루션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820,000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5.4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0000" y="3168000"/>
            <a:ext cx="90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D4AF37"/>
                </a:solidFill>
                <a:latin typeface="Malgun Gothic"/>
              </a:rPr>
              <a:t>상위 8 개사 합계 시장점유율: 83.5%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360000"/>
            <a:ext cx="36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Malgun Gothic"/>
              </a:rPr>
              <a:t>매출액 현황 (최근 3 개년 상위 5 개사)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20000" y="900000"/>
          <a:ext cx="8640000" cy="21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360000"/>
            <a:ext cx="36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Malgun Gothic"/>
              </a:rPr>
              <a:t>지역별 업체 분포</a:t>
            </a:r>
          </a:p>
        </p:txBody>
      </p:sp>
      <p:sp>
        <p:nvSpPr>
          <p:cNvPr id="3" name="Trapezoid 2"/>
          <p:cNvSpPr/>
          <p:nvPr/>
        </p:nvSpPr>
        <p:spPr>
          <a:xfrm>
            <a:off x="540000" y="900000"/>
            <a:ext cx="1440000" cy="900000"/>
          </a:xfrm>
          <a:prstGeom prst="trapezoid">
            <a:avLst/>
          </a:prstGeom>
          <a:solidFill>
            <a:srgbClr val="ADD8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강원권</a:t>
            </a:r>
            <a:br/>
            <a:r>
              <a:t>89 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2052000" y="1080000"/>
            <a:ext cx="1260000" cy="720000"/>
          </a:xfrm>
          <a:prstGeom prst="rect">
            <a:avLst/>
          </a:prstGeom>
          <a:solidFill>
            <a:srgbClr val="00336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수도권</a:t>
            </a:r>
            <a:br/>
            <a:r>
              <a:t>485 개</a:t>
            </a:r>
          </a:p>
        </p:txBody>
      </p:sp>
      <p:sp>
        <p:nvSpPr>
          <p:cNvPr id="5" name="Pentagon 4"/>
          <p:cNvSpPr/>
          <p:nvPr/>
        </p:nvSpPr>
        <p:spPr>
          <a:xfrm>
            <a:off x="1260000" y="1907999"/>
            <a:ext cx="1440000" cy="720000"/>
          </a:xfrm>
          <a:prstGeom prst="homePlate">
            <a:avLst/>
          </a:prstGeom>
          <a:solidFill>
            <a:srgbClr val="4682B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충청권</a:t>
            </a:r>
            <a:br/>
            <a:r>
              <a:t>198 개</a:t>
            </a:r>
          </a:p>
        </p:txBody>
      </p:sp>
      <p:sp>
        <p:nvSpPr>
          <p:cNvPr id="6" name="Pentagon 5"/>
          <p:cNvSpPr/>
          <p:nvPr/>
        </p:nvSpPr>
        <p:spPr>
          <a:xfrm>
            <a:off x="1080000" y="2700000"/>
            <a:ext cx="1260000" cy="900000"/>
          </a:xfrm>
          <a:prstGeom prst="homePlate">
            <a:avLst/>
          </a:prstGeom>
          <a:solidFill>
            <a:srgbClr val="ADD8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호남권</a:t>
            </a:r>
            <a:br/>
            <a:r>
              <a:t>245 개</a:t>
            </a:r>
          </a:p>
        </p:txBody>
      </p:sp>
      <p:sp>
        <p:nvSpPr>
          <p:cNvPr id="7" name="Trapezoid 6"/>
          <p:cNvSpPr/>
          <p:nvPr/>
        </p:nvSpPr>
        <p:spPr>
          <a:xfrm>
            <a:off x="2520000" y="1980000"/>
            <a:ext cx="1620000" cy="1440000"/>
          </a:xfrm>
          <a:prstGeom prst="trapezoid">
            <a:avLst/>
          </a:prstGeom>
          <a:solidFill>
            <a:srgbClr val="001A3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영남권</a:t>
            </a:r>
            <a:br/>
            <a:r>
              <a:t>312 개</a:t>
            </a:r>
          </a:p>
        </p:txBody>
      </p:sp>
      <p:sp>
        <p:nvSpPr>
          <p:cNvPr id="8" name="Oval 7"/>
          <p:cNvSpPr/>
          <p:nvPr/>
        </p:nvSpPr>
        <p:spPr>
          <a:xfrm>
            <a:off x="900000" y="3780000"/>
            <a:ext cx="720000" cy="360000"/>
          </a:xfrm>
          <a:prstGeom prst="ellipse">
            <a:avLst/>
          </a:prstGeom>
          <a:solidFill>
            <a:srgbClr val="DDDDD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333333"/>
                </a:solidFill>
                <a:latin typeface="Malgun Gothic"/>
              </a:rPr>
              <a:t>기타</a:t>
            </a:r>
            <a:br/>
            <a:r>
              <a:t>169 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960000" y="900000"/>
          <a:ext cx="576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000"/>
                <a:gridCol w="1440000"/>
                <a:gridCol w="1440000"/>
              </a:tblGrid>
              <a:tr h="30857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업체 수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algun Gothic"/>
                        </a:rPr>
                        <a:t>비중 (%)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</a:tr>
              <a:tr h="30857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수도권 (경기/서울/인천)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485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32.5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857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영남권 (부산/대구/경남/울산)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312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20.9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857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호남권 (광주/전남/전북/제주)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245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16.4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857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충청권 (대전/세종/충남/충북)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13.3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857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강원권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89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5.9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0857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기타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33333"/>
                          </a:solidFill>
                          <a:latin typeface="Malgun Gothic"/>
                        </a:rPr>
                        <a:t>11.0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360000"/>
            <a:ext cx="36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Malgun Gothic"/>
              </a:rPr>
              <a:t>처리장 규모별 현황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20000" y="900000"/>
          <a:ext cx="4320000" cy="25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ectangle 3"/>
          <p:cNvSpPr/>
          <p:nvPr/>
        </p:nvSpPr>
        <p:spPr>
          <a:xfrm>
            <a:off x="5400000" y="1080000"/>
            <a:ext cx="180000" cy="18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88000" y="1080000"/>
            <a:ext cx="36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Malgun Gothic"/>
              </a:rPr>
              <a:t>대규모 (10k 톤+/일) : 15%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0" y="1512000"/>
            <a:ext cx="180000" cy="180000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88000" y="1512000"/>
            <a:ext cx="36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Malgun Gothic"/>
              </a:rPr>
              <a:t>중규모 (1k-10k 톤/일) : 45%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0" y="1944000"/>
            <a:ext cx="180000" cy="180000"/>
          </a:xfrm>
          <a:prstGeom prst="rect">
            <a:avLst/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88000" y="1944000"/>
            <a:ext cx="36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Malgun Gothic"/>
              </a:rPr>
              <a:t>소규모 (1k 톤-/일) : 40%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360000"/>
            <a:ext cx="36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Malgun Gothic"/>
              </a:rPr>
              <a:t>입찰 동향 (최근 5 개년)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20000" y="900000"/>
          <a:ext cx="8640000" cy="21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20000" y="3060000"/>
            <a:ext cx="864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003366"/>
                </a:solidFill>
                <a:latin typeface="Malgun Gothic"/>
              </a:rPr>
              <a:t>평균 낙찰률: 92.3% (안정적인 시장 형성)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360000"/>
            <a:ext cx="36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03366"/>
                </a:solidFill>
                <a:latin typeface="Malgun Gothic"/>
              </a:rPr>
              <a:t>기술 개발 현황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0000" y="900000"/>
            <a:ext cx="3060000" cy="198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20000" y="1080000"/>
            <a:ext cx="432000" cy="4320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0">
                <a:solidFill>
                  <a:srgbClr val="FFFFFF"/>
                </a:solidFill>
                <a:latin typeface="Malgun Gothic"/>
              </a:rPr>
              <a:t>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0000" y="1080000"/>
            <a:ext cx="2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Malgun Gothic"/>
              </a:rPr>
              <a:t>AI 기반 운영 최적화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162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Malgun Gothic"/>
              </a:rPr>
              <a:t>에너지 절감 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198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Malgun Gothic"/>
              </a:rPr>
              <a:t>운영 효율 30% 향상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80000" y="900000"/>
            <a:ext cx="3060000" cy="198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960000" y="1080000"/>
            <a:ext cx="432000" cy="4320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0">
                <a:solidFill>
                  <a:srgbClr val="FFFFFF"/>
                </a:solidFill>
                <a:latin typeface="Malgun Gothic"/>
              </a:rP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0000" y="1080000"/>
            <a:ext cx="2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Malgun Gothic"/>
              </a:rPr>
              <a:t>에너지 자립화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162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Malgun Gothic"/>
              </a:rPr>
              <a:t>태양광 + 바이오가스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0" y="198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Malgun Gothic"/>
              </a:rPr>
              <a:t>자립률 45% 달성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0000" y="900000"/>
            <a:ext cx="3060000" cy="198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00000" y="1080000"/>
            <a:ext cx="432000" cy="4320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0">
                <a:solidFill>
                  <a:srgbClr val="FFFFFF"/>
                </a:solidFill>
                <a:latin typeface="Malgun Gothic"/>
              </a:rPr>
              <a:t>♻️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0000" y="1080000"/>
            <a:ext cx="2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3366"/>
                </a:solidFill>
                <a:latin typeface="Malgun Gothic"/>
              </a:rPr>
              <a:t>슬러지 감량화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0" y="162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Malgun Gothic"/>
              </a:rPr>
              <a:t>부피 60% 감소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0" y="1980000"/>
            <a:ext cx="270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33333"/>
                </a:solidFill>
                <a:latin typeface="Malgun Gothic"/>
              </a:rPr>
              <a:t>재활용률 80%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540000"/>
            <a:ext cx="93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3366"/>
                </a:solidFill>
                <a:latin typeface="Malgun Gothic"/>
              </a:rPr>
              <a:t>결론 및 제언</a:t>
            </a:r>
          </a:p>
        </p:txBody>
      </p:sp>
      <p:sp>
        <p:nvSpPr>
          <p:cNvPr id="3" name="Oval 2"/>
          <p:cNvSpPr/>
          <p:nvPr/>
        </p:nvSpPr>
        <p:spPr>
          <a:xfrm>
            <a:off x="1800000" y="1440000"/>
            <a:ext cx="144000" cy="1440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60000" y="1440000"/>
            <a:ext cx="72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333333"/>
                </a:solidFill>
                <a:latin typeface="Malgun Gothic"/>
              </a:rPr>
              <a:t>시장 안정성: 연 4.2% 성장으로 안정적 투자처</a:t>
            </a:r>
          </a:p>
        </p:txBody>
      </p:sp>
      <p:sp>
        <p:nvSpPr>
          <p:cNvPr id="5" name="Oval 4"/>
          <p:cNvSpPr/>
          <p:nvPr/>
        </p:nvSpPr>
        <p:spPr>
          <a:xfrm>
            <a:off x="1800000" y="1980000"/>
            <a:ext cx="144000" cy="1440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60000" y="1980000"/>
            <a:ext cx="72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333333"/>
                </a:solidFill>
                <a:latin typeface="Malgun Gothic"/>
              </a:rPr>
              <a:t>기술 혁신: AI·에너지 자립화 기술이 경쟁력 결정</a:t>
            </a:r>
          </a:p>
        </p:txBody>
      </p:sp>
      <p:sp>
        <p:nvSpPr>
          <p:cNvPr id="7" name="Oval 6"/>
          <p:cNvSpPr/>
          <p:nvPr/>
        </p:nvSpPr>
        <p:spPr>
          <a:xfrm>
            <a:off x="1800000" y="2520000"/>
            <a:ext cx="144000" cy="1440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60000" y="2520000"/>
            <a:ext cx="720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333333"/>
                </a:solidFill>
                <a:latin typeface="Malgun Gothic"/>
              </a:rPr>
              <a:t>투자 유망 분야: 스마트 워터관리, 에너지 효율화, 슬러지 자원화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3240000"/>
            <a:ext cx="936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003366"/>
                </a:solidFill>
                <a:latin typeface="Malgun Gothic"/>
              </a:rPr>
              <a:t>감사합니다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000" y="3671999"/>
            <a:ext cx="8640000" cy="36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