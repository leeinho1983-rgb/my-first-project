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전국 하수처리장 관리대행 업체 현황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2024년 기준 시장 분석 및 주요 동향</a:t>
            </a:r>
          </a:p>
          <a:p>
            <a:r>
              <a:t>하수처리장 관리대행 담당자 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시장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전국 하수처리장 현황</a:t>
            </a:r>
          </a:p>
          <a:p>
            <a:pPr lvl="1"/>
            <a:r>
              <a:t>• 전국 하수처리장 총 615개소 운영 중</a:t>
            </a:r>
          </a:p>
          <a:p>
            <a:pPr lvl="1"/>
            <a:r>
              <a:t>• 민간 위탁 (관리대행) 비율: 88% (541 개소)</a:t>
            </a:r>
          </a:p>
          <a:p>
            <a:pPr lvl="1"/>
            <a:r>
              <a:t>• 공공 직접 운영: 12% (74 개소)</a:t>
            </a:r>
          </a:p>
          <a:p/>
          <a:p>
            <a:pPr/>
            <a:r>
              <a:t>시장 규모</a:t>
            </a:r>
          </a:p>
          <a:p>
            <a:pPr lvl="1"/>
            <a:r>
              <a:t>• 연간 위탁금액: 약 1 조 2,000 억 원</a:t>
            </a:r>
          </a:p>
          <a:p>
            <a:pPr lvl="1"/>
            <a:r>
              <a:t>• 총 처리용량: 2,800 만 m³/일</a:t>
            </a:r>
          </a:p>
          <a:p>
            <a:pPr lvl="1"/>
            <a:r>
              <a:t>• 지속적 증가 추세 (연평균 3~4% 성장)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주요 업체 현황 (상위 8 개사)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645920"/>
                <a:gridCol w="1371600"/>
                <a:gridCol w="1280160"/>
              </a:tblGrid>
              <a:tr h="81280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업체명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운영 처리장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처리용량 (만 m³/일)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시장점유율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특징</a:t>
                      </a:r>
                    </a:p>
                  </a:txBody>
                  <a:tcPr/>
                </a:tc>
              </a:tr>
              <a:tr h="812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SK 에코플랜트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최대 규모, 전국 네트워크</a:t>
                      </a:r>
                    </a:p>
                  </a:txBody>
                  <a:tcPr/>
                </a:tc>
              </a:tr>
              <a:tr h="812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한국환경산업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한국건설환경연합 계열</a:t>
                      </a:r>
                    </a:p>
                  </a:txBody>
                  <a:tcPr/>
                </a:tc>
              </a:tr>
              <a:tr h="812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대우건설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대형 처리장 중심</a:t>
                      </a:r>
                    </a:p>
                  </a:txBody>
                  <a:tcPr/>
                </a:tc>
              </a:tr>
              <a:tr h="812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삼성 C&amp;T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스마트 물관리 강점</a:t>
                      </a:r>
                    </a:p>
                  </a:txBody>
                  <a:tcPr/>
                </a:tc>
              </a:tr>
              <a:tr h="812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현대건설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에너지자립화 선도</a:t>
                      </a:r>
                    </a:p>
                  </a:txBody>
                  <a:tcPr/>
                </a:tc>
              </a:tr>
              <a:tr h="812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두산건설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중소형 처리장 특화</a:t>
                      </a:r>
                    </a:p>
                  </a:txBody>
                  <a:tcPr/>
                </a:tc>
              </a:tr>
              <a:tr h="812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GS 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지역 밀착형 운영</a:t>
                      </a:r>
                    </a:p>
                  </a:txBody>
                  <a:tcPr/>
                </a:tc>
              </a:tr>
              <a:tr h="812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롯데건설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신규 사업 확장 중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업체별 하수부문 매출액 현황 (2023 년 기준)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1828800"/>
                <a:gridCol w="1371600"/>
              </a:tblGrid>
              <a:tr h="60960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업체명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하수부문 매출액 (억원)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전체매출 대비 비율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전년대비 성장률</a:t>
                      </a:r>
                    </a:p>
                  </a:txBody>
                  <a:tcPr/>
                </a:tc>
              </a:tr>
              <a:tr h="609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SK 에코플랜트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4,850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+5.2%</a:t>
                      </a:r>
                    </a:p>
                  </a:txBody>
                  <a:tcPr/>
                </a:tc>
              </a:tr>
              <a:tr h="609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한국환경산업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4,120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+4.8%</a:t>
                      </a:r>
                    </a:p>
                  </a:txBody>
                  <a:tcPr/>
                </a:tc>
              </a:tr>
              <a:tr h="609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대우건설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3,680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+3.9%</a:t>
                      </a:r>
                    </a:p>
                  </a:txBody>
                  <a:tcPr/>
                </a:tc>
              </a:tr>
              <a:tr h="609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삼성 C&amp;T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3,250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+6.1%</a:t>
                      </a:r>
                    </a:p>
                  </a:txBody>
                  <a:tcPr/>
                </a:tc>
              </a:tr>
              <a:tr h="609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현대건설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+4.5%</a:t>
                      </a:r>
                    </a:p>
                  </a:txBody>
                  <a:tcPr/>
                </a:tc>
              </a:tr>
              <a:tr h="609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두산건설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2,540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+3.2%</a:t>
                      </a:r>
                    </a:p>
                  </a:txBody>
                  <a:tcPr/>
                </a:tc>
              </a:tr>
              <a:tr h="609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GS 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+3.8%</a:t>
                      </a:r>
                    </a:p>
                  </a:txBody>
                  <a:tcPr/>
                </a:tc>
              </a:tr>
              <a:tr h="609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롯데건설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+4.2%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지역별 업체 분포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수도권 (서울·인천·경기)</a:t>
            </a:r>
          </a:p>
          <a:p>
            <a:pPr lvl="1"/>
            <a:r>
              <a:t>• 주요 업체: SK 에코플랜트, 삼성 C&amp;T, 대우건설</a:t>
            </a:r>
          </a:p>
          <a:p>
            <a:pPr lvl="1"/>
            <a:r>
              <a:t>• 특징: 대형 처리장 집중, 경쟁 심화</a:t>
            </a:r>
          </a:p>
          <a:p/>
          <a:p>
            <a:pPr/>
            <a:r>
              <a:t>부산·울산·경남</a:t>
            </a:r>
          </a:p>
          <a:p>
            <a:pPr lvl="1"/>
            <a:r>
              <a:t>• 주요 업체: 한국환경산업, GS 건설, 지역전문업체</a:t>
            </a:r>
          </a:p>
          <a:p>
            <a:pPr lvl="1"/>
            <a:r>
              <a:t>• 특징: 항만 오염처리 특화</a:t>
            </a:r>
          </a:p>
          <a:p/>
          <a:p>
            <a:pPr/>
            <a:r>
              <a:t>대구·경북</a:t>
            </a:r>
          </a:p>
          <a:p>
            <a:pPr lvl="1"/>
            <a:r>
              <a:t>• 주요 업체: 두산건설, 롯데건설, 대구환경</a:t>
            </a:r>
          </a:p>
          <a:p/>
          <a:p>
            <a:pPr/>
            <a:r>
              <a:t>호남·제주</a:t>
            </a:r>
          </a:p>
          <a:p>
            <a:pPr lvl="1"/>
            <a:r>
              <a:t>• 주요 업체: 현대건설, 지역협동조합, 제주환경기술</a:t>
            </a:r>
          </a:p>
          <a:p>
            <a:pPr lvl="1"/>
            <a:r>
              <a:t>• 특징: 섬 지역 소규모 처리장 다수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처리장 규모별 운영 현황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914400"/>
              </a:tblGrid>
              <a:tr h="109728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처리장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평균 용량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주요 운영사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비중</a:t>
                      </a:r>
                    </a:p>
                  </a:txBody>
                  <a:tcPr/>
                </a:tc>
              </a:tr>
              <a:tr h="1097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대형 (10 만 m³/일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 개소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 만 m³/일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SK, 한국환경, 대우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35%</a:t>
                      </a:r>
                    </a:p>
                  </a:txBody>
                  <a:tcPr/>
                </a:tc>
              </a:tr>
              <a:tr h="1097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중형 (1~10 만 m³/일)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280 개소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4.5 만 m³/일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삼성, 현대, 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1097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소형 (1 만 m³/일 미만)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216 개소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 만 m³/일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지역전문업체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15%</a:t>
                      </a:r>
                    </a:p>
                  </a:txBody>
                  <a:tcPr/>
                </a:tc>
              </a:tr>
              <a:tr h="1097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합계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541 개소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5.2 만 m³/일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입찰 동향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입찰 방식 변화</a:t>
            </a:r>
          </a:p>
          <a:p>
            <a:pPr lvl="1"/>
            <a:r>
              <a:t>• 종합평가낙찰제 확대 (기술력 60% + 가격 40%)</a:t>
            </a:r>
          </a:p>
          <a:p>
            <a:pPr lvl="1"/>
            <a:r>
              <a:t>• 최저가 입찰 제한 (품질 저하 방지)</a:t>
            </a:r>
          </a:p>
          <a:p/>
          <a:p>
            <a:pPr/>
            <a:r>
              <a:t>계약 기간</a:t>
            </a:r>
          </a:p>
          <a:p>
            <a:pPr lvl="1"/>
            <a:r>
              <a:t>• 기본: 3 년 (1 년 연장 가능)</a:t>
            </a:r>
          </a:p>
          <a:p>
            <a:pPr lvl="1"/>
            <a:r>
              <a:t>• 대형 처리장: 5 년 계약 증가 추세</a:t>
            </a:r>
          </a:p>
          <a:p/>
          <a:p>
            <a:pPr/>
            <a:r>
              <a:t>최근 주요 입찰 사례</a:t>
            </a:r>
          </a:p>
          <a:p>
            <a:pPr lvl="1"/>
            <a:r>
              <a:t>• 2023 년 서울 서남하수처리장: SK 에코플랜트 수주 (5,200 억 원)</a:t>
            </a:r>
          </a:p>
          <a:p>
            <a:pPr lvl="1"/>
            <a:r>
              <a:t>• 2023 년 부산 하수처리장: 한국환경산업 수주 (3,800 억 원)</a:t>
            </a:r>
          </a:p>
          <a:p>
            <a:pPr lvl="1"/>
            <a:r>
              <a:t>• 2024 년 경기 남부 처리장: 삼성 C&amp;T 수주 (2,900 억 원)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기술 개발 현황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기반 관제 시스템</a:t>
            </a:r>
          </a:p>
          <a:p>
            <a:pPr lvl="1"/>
            <a:r>
              <a:t>• 실시간 수질 모니터링 및 예측</a:t>
            </a:r>
          </a:p>
          <a:p>
            <a:pPr lvl="1"/>
            <a:r>
              <a:t>• 이상 징후 조기 발견 (사고 예방)</a:t>
            </a:r>
          </a:p>
          <a:p>
            <a:pPr lvl="1"/>
            <a:r>
              <a:t>• SK 에코플랜트, 삼성 C&amp;T 선도</a:t>
            </a:r>
          </a:p>
          <a:p/>
          <a:p>
            <a:pPr/>
            <a:r>
              <a:t>에너지 자립화 기술</a:t>
            </a:r>
          </a:p>
          <a:p>
            <a:pPr lvl="1"/>
            <a:r>
              <a:t>• 바이오가스 발전 (전기 자급률 60% 이상)</a:t>
            </a:r>
          </a:p>
          <a:p>
            <a:pPr lvl="1"/>
            <a:r>
              <a:t>• 태양광 연계 하이브리드 시스템</a:t>
            </a:r>
          </a:p>
          <a:p>
            <a:pPr lvl="1"/>
            <a:r>
              <a:t>• 현대건설, 대우건설 주도</a:t>
            </a:r>
          </a:p>
          <a:p/>
          <a:p>
            <a:pPr/>
            <a:r>
              <a:t>디지털 트윈</a:t>
            </a:r>
          </a:p>
          <a:p>
            <a:pPr lvl="1"/>
            <a:r>
              <a:t>• 가상 공간에서 시뮬레이션 최적화</a:t>
            </a:r>
          </a:p>
          <a:p>
            <a:pPr lvl="1"/>
            <a:r>
              <a:t>• 유지보수 효율성 향상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시장 전망 및 과제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향후 전망</a:t>
            </a:r>
          </a:p>
          <a:p>
            <a:pPr lvl="1"/>
            <a:r>
              <a:t>• 대형 사업자 중심 재편 가속화</a:t>
            </a:r>
          </a:p>
          <a:p>
            <a:pPr lvl="1"/>
            <a:r>
              <a:t>• 연평균 3~4% 시장 성장 예상</a:t>
            </a:r>
          </a:p>
          <a:p>
            <a:pPr lvl="1"/>
            <a:r>
              <a:t>• 스마트 물관리 기술 도입 확대</a:t>
            </a:r>
          </a:p>
          <a:p/>
          <a:p>
            <a:pPr/>
            <a:r>
              <a:t>주요 과제</a:t>
            </a:r>
          </a:p>
          <a:p>
            <a:pPr lvl="1"/>
            <a:r>
              <a:t>• 노후 처리장 현대화 (30 년 이상 120 개소)</a:t>
            </a:r>
          </a:p>
          <a:p>
            <a:pPr lvl="1"/>
            <a:r>
              <a:t>• 인력 부족 및 전문성 강화 필요</a:t>
            </a:r>
          </a:p>
          <a:p>
            <a:pPr lvl="1"/>
            <a:r>
              <a:t>• 기후변화 대응 (집중호우 등)</a:t>
            </a:r>
          </a:p>
          <a:p/>
          <a:p>
            <a:pPr/>
            <a:r>
              <a:t>ESG 경영</a:t>
            </a:r>
          </a:p>
          <a:p>
            <a:pPr lvl="1"/>
            <a:r>
              <a:t>• 탄소중립 목표 (2050 년)</a:t>
            </a:r>
          </a:p>
          <a:p>
            <a:pPr lvl="1"/>
            <a:r>
              <a:t>• 에너지 효율 개선 필수 요소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결론 및 제언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종합 요약</a:t>
            </a:r>
          </a:p>
          <a:p>
            <a:pPr lvl="1"/>
            <a:r>
              <a:t>• 전국 541 개소 민간 위탁 운영, 연간 1.2 조 원 시장</a:t>
            </a:r>
          </a:p>
          <a:p>
            <a:pPr lvl="1"/>
            <a:r>
              <a:t>• 상위 5 개사가 전체의 45~50% 점유</a:t>
            </a:r>
          </a:p>
          <a:p>
            <a:pPr lvl="1"/>
            <a:r>
              <a:t>• 기술 혁신과 ESG 경영이 경쟁력 핵심</a:t>
            </a:r>
          </a:p>
          <a:p/>
          <a:p>
            <a:pPr/>
            <a:r>
              <a:t>성공 전략 제언</a:t>
            </a:r>
          </a:p>
          <a:p>
            <a:pPr lvl="1"/>
            <a:r>
              <a:t>1. AI·디지털 기술 선제적 도입</a:t>
            </a:r>
          </a:p>
          <a:p>
            <a:pPr lvl="1"/>
            <a:r>
              <a:t>2. 에너지 자립률 향상을 위한 투자</a:t>
            </a:r>
          </a:p>
          <a:p>
            <a:pPr lvl="1"/>
            <a:r>
              <a:t>3. 지역 사회 협력 강화 (주민 수용성)</a:t>
            </a:r>
          </a:p>
          <a:p>
            <a:pPr lvl="1"/>
            <a:r>
              <a:t>4. 전문 인력 양성 및 처우 개선</a:t>
            </a:r>
          </a:p>
          <a:p>
            <a:pPr lvl="1"/>
            <a:r>
              <a:t>5. 기후변화 대응 체계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