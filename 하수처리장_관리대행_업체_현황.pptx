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200" b="1">
                <a:solidFill>
                  <a:srgbClr val="003366"/>
                </a:solidFill>
                <a:latin typeface="Malgun Gothic"/>
              </a:defRPr>
            </a:pPr>
            <a:r>
              <a:t>전국 하수처리장 관리대행 업체 현황 분석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808080"/>
                </a:solidFill>
                <a:latin typeface="Malgun Gothic"/>
              </a:defRPr>
            </a:pPr>
            <a:r>
              <a:t>2024년 시장 동향 및 전망</a:t>
            </a:r>
          </a:p>
          <a:p>
            <a:pPr>
              <a:defRPr sz="2000">
                <a:solidFill>
                  <a:srgbClr val="808080"/>
                </a:solidFill>
                <a:latin typeface="Malgun Gothic"/>
              </a:defRPr>
            </a:pPr>
            <a:r>
              <a:t>2026년 07월 30일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5943600"/>
            <a:ext cx="8229600" cy="914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  <a:latin typeface="Malgun Gothic"/>
              </a:defRPr>
            </a:pPr>
            <a:r>
              <a:t>목 차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  <a:latin typeface="Malgun Gothic"/>
              </a:defRPr>
            </a:pPr>
            <a:r>
              <a:t>1. 시장 개요</a:t>
            </a:r>
          </a:p>
          <a:p>
            <a:pPr>
              <a:defRPr sz="1800">
                <a:solidFill>
                  <a:srgbClr val="404040"/>
                </a:solidFill>
                <a:latin typeface="Malgun Gothic"/>
              </a:defRPr>
            </a:pPr>
            <a:r>
              <a:t>2. 주요 업체 현황</a:t>
            </a:r>
          </a:p>
          <a:p>
            <a:pPr>
              <a:defRPr sz="1800">
                <a:solidFill>
                  <a:srgbClr val="404040"/>
                </a:solidFill>
                <a:latin typeface="Malgun Gothic"/>
              </a:defRPr>
            </a:pPr>
            <a:r>
              <a:t>3. 매출액 비교</a:t>
            </a:r>
          </a:p>
          <a:p>
            <a:pPr>
              <a:defRPr sz="1800">
                <a:solidFill>
                  <a:srgbClr val="404040"/>
                </a:solidFill>
                <a:latin typeface="Malgun Gothic"/>
              </a:defRPr>
            </a:pPr>
            <a:r>
              <a:t>4. 지역별 분포</a:t>
            </a:r>
          </a:p>
          <a:p>
            <a:pPr>
              <a:defRPr sz="1800">
                <a:solidFill>
                  <a:srgbClr val="404040"/>
                </a:solidFill>
                <a:latin typeface="Malgun Gothic"/>
              </a:defRPr>
            </a:pPr>
            <a:r>
              <a:t>5. 처리장 규모별 현황</a:t>
            </a:r>
          </a:p>
          <a:p>
            <a:pPr>
              <a:defRPr sz="1800">
                <a:solidFill>
                  <a:srgbClr val="404040"/>
                </a:solidFill>
                <a:latin typeface="Malgun Gothic"/>
              </a:defRPr>
            </a:pPr>
            <a:r>
              <a:t>6. 입찰 동향</a:t>
            </a:r>
          </a:p>
          <a:p>
            <a:pPr>
              <a:defRPr sz="1800">
                <a:solidFill>
                  <a:srgbClr val="404040"/>
                </a:solidFill>
                <a:latin typeface="Malgun Gothic"/>
              </a:defRPr>
            </a:pPr>
            <a:r>
              <a:t>7. 기술 개발 현황</a:t>
            </a:r>
          </a:p>
          <a:p>
            <a:pPr>
              <a:defRPr sz="1800">
                <a:solidFill>
                  <a:srgbClr val="404040"/>
                </a:solidFill>
                <a:latin typeface="Malgun Gothic"/>
              </a:defRPr>
            </a:pPr>
            <a:r>
              <a:t>8. 시장 전망</a:t>
            </a:r>
          </a:p>
          <a:p>
            <a:pPr>
              <a:defRPr sz="1800">
                <a:solidFill>
                  <a:srgbClr val="404040"/>
                </a:solidFill>
                <a:latin typeface="Malgun Gothic"/>
              </a:defRPr>
            </a:pPr>
            <a:r>
              <a:t>9.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  <a:latin typeface="Malgun Gothic"/>
              </a:defRPr>
            </a:pPr>
            <a:r>
              <a:t>시장 개요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  <a:latin typeface="Malgun Gothic"/>
              </a:defRPr>
            </a:pPr>
            <a:r>
              <a:t>• 전국 하수처리장 총량: 2,458개소 (2024년 기준)</a:t>
            </a:r>
          </a:p>
          <a:p>
            <a:pPr>
              <a:defRPr sz="1800">
                <a:solidFill>
                  <a:srgbClr val="404040"/>
                </a:solidFill>
                <a:latin typeface="Malgun Gothic"/>
              </a:defRPr>
            </a:pPr>
            <a:r>
              <a:t>• 민간위탁 비율: 67.3% (1,654개소)</a:t>
            </a:r>
          </a:p>
          <a:p>
            <a:pPr>
              <a:defRPr sz="1800">
                <a:solidFill>
                  <a:srgbClr val="404040"/>
                </a:solidFill>
                <a:latin typeface="Malgun Gothic"/>
              </a:defRPr>
            </a:pPr>
            <a:r>
              <a:t>• 연평균 성장률 (CAGR): 4.2% (2020~2024년)</a:t>
            </a:r>
          </a:p>
          <a:p>
            <a:pPr>
              <a:defRPr sz="1800">
                <a:solidFill>
                  <a:srgbClr val="404040"/>
                </a:solidFill>
                <a:latin typeface="Malgun Gothic"/>
              </a:defRPr>
            </a:pPr>
            <a:r>
              <a:t>• 시장 규모: 약 2조 8,500억원 (2024년 예상)</a:t>
            </a:r>
          </a:p>
          <a:p>
            <a:pPr>
              <a:defRPr sz="1800">
                <a:solidFill>
                  <a:srgbClr val="404040"/>
                </a:solidFill>
                <a:latin typeface="Malgun Gothic"/>
              </a:defRPr>
            </a:pPr>
            <a:r>
              <a:t>• 정부의 민간위託 확대 정책에 따른 지속적 성장세</a:t>
            </a:r>
          </a:p>
          <a:p>
            <a:pPr>
              <a:defRPr sz="1800">
                <a:solidFill>
                  <a:srgbClr val="404040"/>
                </a:solidFill>
                <a:latin typeface="Malgun Gothic"/>
              </a:defRPr>
            </a:pPr>
            <a:r>
              <a:t>• 환경규제 강화로 전문 운영업체 수요 증가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003366"/>
                </a:solidFill>
                <a:latin typeface="Malgun Gothic"/>
              </a:defRPr>
            </a:pPr>
            <a:r>
              <a:t>주요 업체 현황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6583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2286000"/>
                <a:gridCol w="18288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업체명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운영 처리장 수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처리용량 (톤/일)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시장점유율 (%)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A 환경건설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156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2850000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18.5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B 워터테크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128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2340000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15.2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C 그린시스템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1780000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11.6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D 에코서비스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87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1560000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10.1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E 클린워터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1320000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8.6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F 물관리공사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65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1180000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7.7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G 청정기술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980000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6.4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H 환경개발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48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870000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5.7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003366"/>
                </a:solidFill>
                <a:latin typeface="Malgun Gothic"/>
              </a:defRPr>
            </a:pPr>
            <a:r>
              <a:t>매출액 현황 (상위 5개사)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103120"/>
                <a:gridCol w="2103120"/>
                <a:gridCol w="219456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업체명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2022년 (억원)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2023년 (억원)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2024년 예상 (억원)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A 환경건설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4850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5120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5480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B 워터테크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3980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4250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4580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C 그린시스템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2870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3050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3280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D 에코서비스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2450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2620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2810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E 클린워터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2180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2340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2520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003366"/>
                </a:solidFill>
                <a:latin typeface="Malgun Gothic"/>
              </a:defRPr>
            </a:pPr>
            <a:r>
              <a:t>지역별 업체 분포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5852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27432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권역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업체 수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비중 (%)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주요 처리장 수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경기·인천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425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25.7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398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서울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186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11.3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142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경남·부산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298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18.0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312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경북·대구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215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13.0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245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충청권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245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14.8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268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전라권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198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12.0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215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강원·제주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5.2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80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003366"/>
                </a:solidFill>
                <a:latin typeface="Malgun Gothic"/>
              </a:defRPr>
            </a:pPr>
            <a:r>
              <a:t>처리장 규모별 현황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828800"/>
                <a:gridCol w="1828800"/>
                <a:gridCol w="182880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규모 구분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업체 수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비중 (%)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처리 용량 비중 (%)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대규모 (50,000톤/일 이상)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145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8.8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52.3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중규모 (10,000~50,000톤)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562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34.0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35.8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소규모 (10,000톤 미만)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57.2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11.9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 b="1">
                <a:solidFill>
                  <a:srgbClr val="003366"/>
                </a:solidFill>
                <a:latin typeface="Malgun Gothic"/>
              </a:defRPr>
            </a:pPr>
            <a:r>
              <a:t>입찰 동향 (최근 2년간)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097280"/>
          <a:ext cx="82296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2011680"/>
                <a:gridCol w="1920240"/>
              </a:tblGrid>
              <a:tr h="73152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2023년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2024년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변동률 (%)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평균 입찰 금액 (억원)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45.8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48.2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+5.2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평균 낙찰률 (%)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87.5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89.2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+1.7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입찰 참여 업체 수 (사)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12.3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14.1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+14.6</a:t>
                      </a:r>
                    </a:p>
                  </a:txBody>
                  <a:tcPr/>
                </a:tc>
              </a:tr>
              <a:tr h="73152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기술평가 비중 (%)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45.0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50.0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404040"/>
                          </a:solidFill>
                          <a:latin typeface="Malgun Gothic"/>
                        </a:defRPr>
                      </a:pPr>
                      <a:r>
                        <a:t>+5.0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  <a:latin typeface="Malgun Gothic"/>
              </a:defRPr>
            </a:pPr>
            <a:r>
              <a:t>기술 개발 현황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  <a:latin typeface="Malgun Gothic"/>
              </a:defRPr>
            </a:pPr>
            <a:r>
              <a:t>• AI 기반 운영 최적화: 실시간 수질 예측 및 에너지 효율화 시스템 도입 확대</a:t>
            </a:r>
          </a:p>
          <a:p>
            <a:pPr>
              <a:defRPr sz="1800">
                <a:solidFill>
                  <a:srgbClr val="404040"/>
                </a:solidFill>
                <a:latin typeface="Malgun Gothic"/>
              </a:defRPr>
            </a:pPr>
            <a:r>
              <a:t>• 에너지 자립화: 태양광, 수소연료전지 등 재생에너지 활용 시설 증가</a:t>
            </a:r>
          </a:p>
          <a:p>
            <a:pPr>
              <a:defRPr sz="1800">
                <a:solidFill>
                  <a:srgbClr val="404040"/>
                </a:solidFill>
                <a:latin typeface="Malgun Gothic"/>
              </a:defRPr>
            </a:pPr>
            <a:r>
              <a:t>• 슬러지 감량화: 고도처리 기술 및 자원화 기술 개발 활발</a:t>
            </a:r>
          </a:p>
          <a:p>
            <a:pPr>
              <a:defRPr sz="1800">
                <a:solidFill>
                  <a:srgbClr val="404040"/>
                </a:solidFill>
                <a:latin typeface="Malgun Gothic"/>
              </a:defRPr>
            </a:pPr>
            <a:r>
              <a:t>• 스마트 워터그리드: IoT 센서 기반 원격 모니터링 시스템 구축</a:t>
            </a:r>
          </a:p>
          <a:p>
            <a:pPr>
              <a:defRPr sz="1800">
                <a:solidFill>
                  <a:srgbClr val="404040"/>
                </a:solidFill>
                <a:latin typeface="Malgun Gothic"/>
              </a:defRPr>
            </a:pPr>
            <a:r>
              <a:t>• 탄소중립 대응: 온실가스 배출 저감 기술 및 LCA 평가 도입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>
                <a:solidFill>
                  <a:srgbClr val="003366"/>
                </a:solidFill>
                <a:latin typeface="Malgun Gothic"/>
              </a:defRPr>
            </a:pPr>
            <a:r>
              <a:t>결론 및 제언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404040"/>
                </a:solidFill>
                <a:latin typeface="Malgun Gothic"/>
              </a:defRPr>
            </a:pPr>
            <a:r>
              <a:t>• 시장 안정성: 꾸준한 성장세와 정부의 민간위託 정책으로 안정적인 시장 환경 조성</a:t>
            </a:r>
          </a:p>
          <a:p>
            <a:pPr>
              <a:defRPr sz="1800">
                <a:solidFill>
                  <a:srgbClr val="404040"/>
                </a:solidFill>
                <a:latin typeface="Malgun Gothic"/>
              </a:defRPr>
            </a:pPr>
            <a:r>
              <a:t>• 투자 유망 분야 1: AI·IoT 기반 스마트 운영관리 솔루션</a:t>
            </a:r>
          </a:p>
          <a:p>
            <a:pPr>
              <a:defRPr sz="1800">
                <a:solidFill>
                  <a:srgbClr val="404040"/>
                </a:solidFill>
                <a:latin typeface="Malgun Gothic"/>
              </a:defRPr>
            </a:pPr>
            <a:r>
              <a:t>• 투자 유망 분야 2: 에너지 자립형 하수처리 시설 기술</a:t>
            </a:r>
          </a:p>
          <a:p>
            <a:pPr>
              <a:defRPr sz="1800">
                <a:solidFill>
                  <a:srgbClr val="404040"/>
                </a:solidFill>
                <a:latin typeface="Malgun Gothic"/>
              </a:defRPr>
            </a:pPr>
            <a:r>
              <a:t>• 투자 유망 분야 3: 슬러지 자원화 및 탄소중립 관련 기술</a:t>
            </a:r>
          </a:p>
          <a:p>
            <a:pPr>
              <a:defRPr sz="1800">
                <a:solidFill>
                  <a:srgbClr val="404040"/>
                </a:solidFill>
                <a:latin typeface="Malgun Gothic"/>
              </a:defRPr>
            </a:pPr>
            <a:r>
              <a:t>• 전문성과 기술력을 갖춘 업체의 경쟁력 강화 필요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