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57400"/>
            <a:ext cx="9445752" cy="13716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전국 하수처리장 관리대행 업체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D4AF37"/>
                </a:solidFill>
                <a:latin typeface="맑은 고딕"/>
              </a:defRPr>
            </a:pPr>
            <a:r>
              <a:t>2024 년 시장 동향 및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맑은 고딕"/>
              </a:defRPr>
            </a:pPr>
            <a:r>
              <a:t>2026 년 07 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7790" y="6217920"/>
            <a:ext cx="7313371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9202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시장 개요</a:t>
            </a:r>
          </a:p>
        </p:txBody>
      </p:sp>
      <p:sp>
        <p:nvSpPr>
          <p:cNvPr id="6" name="Oval 5"/>
          <p:cNvSpPr/>
          <p:nvPr/>
        </p:nvSpPr>
        <p:spPr>
          <a:xfrm>
            <a:off x="4520184" y="19202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0184" y="19202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1704" y="196596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주요 업체 현황</a:t>
            </a:r>
          </a:p>
        </p:txBody>
      </p:sp>
      <p:sp>
        <p:nvSpPr>
          <p:cNvPr id="9" name="Oval 8"/>
          <p:cNvSpPr/>
          <p:nvPr/>
        </p:nvSpPr>
        <p:spPr>
          <a:xfrm>
            <a:off x="7668768" y="19202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8768" y="19202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0288" y="196596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매출액 비교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0175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06324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지역별 분포</a:t>
            </a:r>
          </a:p>
        </p:txBody>
      </p:sp>
      <p:sp>
        <p:nvSpPr>
          <p:cNvPr id="15" name="Oval 14"/>
          <p:cNvSpPr/>
          <p:nvPr/>
        </p:nvSpPr>
        <p:spPr>
          <a:xfrm>
            <a:off x="4520184" y="30175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184" y="3017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1704" y="306324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처리장 규모별 현황</a:t>
            </a:r>
          </a:p>
        </p:txBody>
      </p:sp>
      <p:sp>
        <p:nvSpPr>
          <p:cNvPr id="18" name="Oval 17"/>
          <p:cNvSpPr/>
          <p:nvPr/>
        </p:nvSpPr>
        <p:spPr>
          <a:xfrm>
            <a:off x="7668768" y="301752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8768" y="30175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0288" y="306324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입찰 동향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1148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114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16052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기술 개발 현황</a:t>
            </a:r>
          </a:p>
        </p:txBody>
      </p:sp>
      <p:sp>
        <p:nvSpPr>
          <p:cNvPr id="24" name="Oval 23"/>
          <p:cNvSpPr/>
          <p:nvPr/>
        </p:nvSpPr>
        <p:spPr>
          <a:xfrm>
            <a:off x="4520184" y="41148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0184" y="4114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1704" y="416052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시장 전망</a:t>
            </a:r>
          </a:p>
        </p:txBody>
      </p:sp>
      <p:sp>
        <p:nvSpPr>
          <p:cNvPr id="27" name="Oval 26"/>
          <p:cNvSpPr/>
          <p:nvPr/>
        </p:nvSpPr>
        <p:spPr>
          <a:xfrm>
            <a:off x="7668768" y="41148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8768" y="4114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4160520"/>
            <a:ext cx="22341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맑은 고딕"/>
              </a:defRPr>
            </a:pPr>
            <a:r>
              <a:t>결론 및 제언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시장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3026664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24780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B3A5C"/>
                </a:solidFill>
                <a:latin typeface="맑은 고딕"/>
              </a:defRPr>
            </a:pPr>
            <a:r>
              <a:t>2,458 개소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247802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전국 하수처리장 총량</a:t>
            </a:r>
            <a:br/>
            <a:r>
              <a:t>(2024 년 기준)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1144" y="1828800"/>
            <a:ext cx="3026664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5464" y="2286000"/>
            <a:ext cx="24780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B3A5C"/>
                </a:solidFill>
                <a:latin typeface="맑은 고딕"/>
              </a:defRPr>
            </a:pPr>
            <a:r>
              <a:t>67.3%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5464" y="3657600"/>
            <a:ext cx="247802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민간위탁 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0688" y="1828800"/>
            <a:ext cx="3026664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2286000"/>
            <a:ext cx="24780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B3A5C"/>
                </a:solidFill>
                <a:latin typeface="맑은 고딕"/>
              </a:defRPr>
            </a:pPr>
            <a:r>
              <a:t>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3657600"/>
            <a:ext cx="2478024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연평균 성장률</a:t>
            </a:r>
            <a:br/>
            <a:r>
              <a:t>(CAGR, 2020-2024)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45752" cy="7315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1B3A5C"/>
                </a:solidFill>
                <a:latin typeface="맑은 고딕"/>
              </a:defRPr>
            </a:pPr>
            <a:r>
              <a:t>시장 규모: 약 2 조 8,500 억원 (2024 년 예상)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주요 업체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맑은 고딕"/>
              </a:defRPr>
            </a:pPr>
            <a:r>
              <a:t>상위 8 개사 운영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011680"/>
          <a:ext cx="944575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438"/>
                <a:gridCol w="2361438"/>
                <a:gridCol w="2361438"/>
                <a:gridCol w="2361438"/>
              </a:tblGrid>
              <a:tr h="3759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업체명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운영 처리장 수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처리용량 (톤/일)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시장점유율 (%)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A 환경그룹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2,850,000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B 워터테크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2,100,000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14.2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C 그린시스템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1,780,000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D 에코서비스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1,650,000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10.5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E 클린워터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1,320,000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F 물관리공사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1,180,000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7.7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G 환경산업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980,000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H 워터솔루션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820,000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5.4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5669280"/>
            <a:ext cx="9445752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상위 8 개사 합계 시장점유율: 83.5%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매출액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맑은 고딕"/>
              </a:defRPr>
            </a:pPr>
            <a:r>
              <a:t>상위 5 개사 최근 3 개년 매출액 비교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45752" cy="4668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지역별 업체 분포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5667451" cy="566745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3371.2" y="1645920"/>
          <a:ext cx="3306013.1999999997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004"/>
                <a:gridCol w="1102004"/>
                <a:gridCol w="1102005"/>
              </a:tblGrid>
              <a:tr h="37882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업체 수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 (%)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수도권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32.5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영남권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20.9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호남권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충청권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13.3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강원권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맑은 고딕"/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처리장 규모별 현황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6989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0" y="1828800"/>
            <a:ext cx="2743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8288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대규모 (10,000 톤/일 이상) - 15%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651760"/>
            <a:ext cx="274320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265176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중규모 (1,000-10,000 톤/일) - 45%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474720"/>
            <a:ext cx="274320" cy="274320"/>
          </a:xfrm>
          <a:prstGeom prst="rect">
            <a:avLst/>
          </a:prstGeom>
          <a:solidFill>
            <a:srgbClr val="AED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347472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맑은 고딕"/>
              </a:defRPr>
            </a:pPr>
            <a:r>
              <a:t>소규모 (1,000 톤/일 미만) - 40%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입찰 동향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맑은 고딕"/>
              </a:defRPr>
            </a:pPr>
            <a:r>
              <a:t>최근 5 개년 평균 입찰 금액 추이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45752" cy="46336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71600" y="5486400"/>
            <a:ext cx="9445752" cy="7315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1B3A5C"/>
                </a:solidFill>
                <a:latin typeface="맑은 고딕"/>
              </a:defRPr>
            </a:pPr>
            <a:r>
              <a:t>평균 낙찰률: 92.3%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맑은 고딕"/>
              </a:defRPr>
            </a:pPr>
            <a:r>
              <a:t>기술 개발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맑은 고딕"/>
              </a:defRPr>
            </a:pPr>
            <a:r>
              <a:t>주요 기술 트렌드 3 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026664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19172" y="1920240"/>
            <a:ext cx="731520" cy="7315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2656332" y="2057400"/>
            <a:ext cx="457200" cy="45720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34640"/>
            <a:ext cx="24780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맑은 고딕"/>
              </a:defRPr>
            </a:pPr>
            <a:r>
              <a:t>AI 기반 운영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24780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에너지 절감 25%, 운영 효율 30% 향상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1206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맑은 고딕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581144" y="1645920"/>
            <a:ext cx="3026664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28716" y="1920240"/>
            <a:ext cx="731520" cy="7315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un 11"/>
          <p:cNvSpPr/>
          <p:nvPr/>
        </p:nvSpPr>
        <p:spPr>
          <a:xfrm>
            <a:off x="5865876" y="2057400"/>
            <a:ext cx="457200" cy="457200"/>
          </a:xfrm>
          <a:prstGeom prst="sun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5464" y="2834640"/>
            <a:ext cx="24780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맑은 고딕"/>
              </a:defRPr>
            </a:pPr>
            <a:r>
              <a:t>에너지 자립화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657600"/>
            <a:ext cx="24780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태양광+바이오가스, 자립률 45% 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51206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맑은 고딕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7790688" y="1645920"/>
            <a:ext cx="3026664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38260" y="1920240"/>
            <a:ext cx="731520" cy="7315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ircular Arrow 17"/>
          <p:cNvSpPr/>
          <p:nvPr/>
        </p:nvSpPr>
        <p:spPr>
          <a:xfrm>
            <a:off x="9075420" y="2057400"/>
            <a:ext cx="457200" cy="457200"/>
          </a:xfrm>
          <a:prstGeom prst="circularArrow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2834640"/>
            <a:ext cx="24780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맑은 고딕"/>
              </a:defRPr>
            </a:pPr>
            <a:r>
              <a:t>슬러지 감량화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657600"/>
            <a:ext cx="2478024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맑은 고딕"/>
              </a:defRPr>
            </a:pPr>
            <a:r>
              <a:t>부피 60% 감소, 재활용률 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1206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맑은 고딕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결론 및 제언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37744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988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시장 안정성: 연 4.2% 성장으로 안정적 투자처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47472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988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기술 혁신: AI·에너지 자립화 기술이 경쟁력 결정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57200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480560"/>
            <a:ext cx="8988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투자 유망 분야: 스마트 워터관리, 에너지 효율화, 슬러지 자원화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4457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D4AF37"/>
                </a:solidFill>
                <a:latin typeface="맑은 고딕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